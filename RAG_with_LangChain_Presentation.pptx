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3582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1371600"/>
          </a:xfrm>
          <a:prstGeom prst="rect">
            <a:avLst/>
          </a:prstGeom>
          <a:noFill/>
          <a:ln/>
        </p:spPr>
        <p:txBody>
          <a:bodyPr wrap="square" rtlCol="0" anchor="ctr"/>
          <a:lstStyle/>
          <a:p>
            <a:pPr marL="0" indent="0" algn="ctr">
              <a:buNone/>
            </a:pPr>
            <a:r>
              <a:rPr lang="en-US" sz="5400" b="1" dirty="0">
                <a:solidFill>
                  <a:srgbClr val="FFFFFF"/>
                </a:solidFill>
                <a:latin typeface="Georgia" pitchFamily="34" charset="0"/>
                <a:ea typeface="Georgia" pitchFamily="34" charset="-122"/>
                <a:cs typeface="Georgia" pitchFamily="34" charset="-120"/>
              </a:rPr>
              <a:t>RAG with LangChain</a:t>
            </a:r>
            <a:endParaRPr lang="en-US" sz="5400" dirty="0"/>
          </a:p>
        </p:txBody>
      </p:sp>
      <p:sp>
        <p:nvSpPr>
          <p:cNvPr id="3" name="Text 1"/>
          <p:cNvSpPr/>
          <p:nvPr/>
        </p:nvSpPr>
        <p:spPr>
          <a:xfrm>
            <a:off x="457200" y="2926080"/>
            <a:ext cx="8229600" cy="548640"/>
          </a:xfrm>
          <a:prstGeom prst="rect">
            <a:avLst/>
          </a:prstGeom>
          <a:noFill/>
          <a:ln/>
        </p:spPr>
        <p:txBody>
          <a:bodyPr wrap="square" rtlCol="0" anchor="ctr"/>
          <a:lstStyle/>
          <a:p>
            <a:pPr marL="0" indent="0" algn="ctr">
              <a:buNone/>
            </a:pPr>
            <a:r>
              <a:rPr lang="en-US" sz="2400" dirty="0">
                <a:solidFill>
                  <a:srgbClr val="F5F5F5"/>
                </a:solidFill>
                <a:latin typeface="Calibri" pitchFamily="34" charset="0"/>
                <a:ea typeface="Calibri" pitchFamily="34" charset="-122"/>
                <a:cs typeface="Calibri" pitchFamily="34" charset="-120"/>
              </a:rPr>
              <a:t>Building an Intelligent Q&amp;A Chatbot</a:t>
            </a:r>
            <a:endParaRPr lang="en-US" sz="2400" dirty="0"/>
          </a:p>
        </p:txBody>
      </p:sp>
      <p:sp>
        <p:nvSpPr>
          <p:cNvPr id="4" name="Text 2"/>
          <p:cNvSpPr/>
          <p:nvPr/>
        </p:nvSpPr>
        <p:spPr>
          <a:xfrm>
            <a:off x="457200" y="4283612"/>
            <a:ext cx="8229600" cy="1097280"/>
          </a:xfrm>
          <a:prstGeom prst="rect">
            <a:avLst/>
          </a:prstGeom>
          <a:noFill/>
          <a:ln/>
        </p:spPr>
        <p:txBody>
          <a:bodyPr wrap="square" rtlCol="0" anchor="t"/>
          <a:lstStyle/>
          <a:p>
            <a:pPr marL="0" indent="0" algn="ctr">
              <a:buNone/>
            </a:pPr>
            <a:r>
              <a:rPr lang="en-US" sz="1600" b="1" dirty="0">
                <a:solidFill>
                  <a:srgbClr val="FFFFFF"/>
                </a:solidFill>
              </a:rPr>
              <a:t>Presented by:
</a:t>
            </a:r>
            <a:r>
              <a:rPr lang="en-US" sz="1400" dirty="0">
                <a:solidFill>
                  <a:srgbClr val="F5F5F5"/>
                </a:solidFill>
              </a:rPr>
              <a:t>Basant Saad Eldin Mohammed</a:t>
            </a:r>
            <a:endParaRPr lang="en-US" sz="1600" dirty="0"/>
          </a:p>
          <a:p>
            <a:pPr marL="0" indent="0" algn="ctr">
              <a:buNone/>
            </a:pPr>
            <a:r>
              <a:rPr lang="en-US" sz="1400" dirty="0">
                <a:solidFill>
                  <a:srgbClr val="F5F5F5"/>
                </a:solidFill>
              </a:rPr>
              <a:t>Mena Gamal Aboelela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What is RAG?</a:t>
            </a:r>
            <a:endParaRPr lang="en-US" sz="2800" dirty="0"/>
          </a:p>
        </p:txBody>
      </p:sp>
      <p:sp>
        <p:nvSpPr>
          <p:cNvPr id="3" name="Text 1"/>
          <p:cNvSpPr/>
          <p:nvPr/>
        </p:nvSpPr>
        <p:spPr>
          <a:xfrm>
            <a:off x="457200" y="1280160"/>
            <a:ext cx="8229600" cy="457200"/>
          </a:xfrm>
          <a:prstGeom prst="rect">
            <a:avLst/>
          </a:prstGeom>
          <a:noFill/>
          <a:ln/>
        </p:spPr>
        <p:txBody>
          <a:bodyPr wrap="square" rtlCol="0" anchor="ctr"/>
          <a:lstStyle/>
          <a:p>
            <a:pPr marL="0" indent="0">
              <a:buNone/>
            </a:pPr>
            <a:r>
              <a:rPr lang="en-US" sz="2000" b="1" dirty="0">
                <a:solidFill>
                  <a:srgbClr val="1C7293"/>
                </a:solidFill>
                <a:latin typeface="Calibri" pitchFamily="34" charset="0"/>
                <a:ea typeface="Calibri" pitchFamily="34" charset="-122"/>
                <a:cs typeface="Calibri" pitchFamily="34" charset="-120"/>
              </a:rPr>
              <a:t>Retrieval-Augmented Generation</a:t>
            </a:r>
            <a:endParaRPr lang="en-US" sz="2000" dirty="0"/>
          </a:p>
        </p:txBody>
      </p:sp>
      <p:sp>
        <p:nvSpPr>
          <p:cNvPr id="4" name="Text 2"/>
          <p:cNvSpPr/>
          <p:nvPr/>
        </p:nvSpPr>
        <p:spPr>
          <a:xfrm>
            <a:off x="457200" y="2011680"/>
            <a:ext cx="8229600" cy="3200400"/>
          </a:xfrm>
          <a:prstGeom prst="rect">
            <a:avLst/>
          </a:prstGeom>
          <a:noFill/>
          <a:ln/>
        </p:spPr>
        <p:txBody>
          <a:bodyPr wrap="square" rtlCol="0" anchor="t"/>
          <a:lstStyle/>
          <a:p>
            <a:pPr marL="0" indent="0">
              <a:buNone/>
            </a:pPr>
            <a:r>
              <a:rPr lang="en-US" sz="1400" dirty="0">
                <a:solidFill>
                  <a:srgbClr val="2C3E50"/>
                </a:solidFill>
                <a:latin typeface="Calibri" pitchFamily="34" charset="0"/>
                <a:ea typeface="Calibri" pitchFamily="34" charset="-122"/>
                <a:cs typeface="Calibri" pitchFamily="34" charset="-120"/>
              </a:rPr>
              <a:t>RAG combines the power of retrieval systems with generative AI models to provide accurate, context-aware responses.
</a:t>
            </a:r>
            <a:r>
              <a:rPr lang="en-US" sz="1400" b="1" dirty="0">
                <a:solidFill>
                  <a:srgbClr val="2C3E50"/>
                </a:solidFill>
                <a:latin typeface="Calibri" pitchFamily="34" charset="0"/>
                <a:ea typeface="Calibri" pitchFamily="34" charset="-122"/>
                <a:cs typeface="Calibri" pitchFamily="34" charset="-120"/>
              </a:rPr>
              <a:t>Key Benefits:
</a:t>
            </a:r>
            <a:r>
              <a:rPr lang="en-US" sz="1400" dirty="0">
                <a:solidFill>
                  <a:srgbClr val="2C3E50"/>
                </a:solidFill>
                <a:latin typeface="Calibri" pitchFamily="34" charset="0"/>
                <a:ea typeface="Calibri" pitchFamily="34" charset="-122"/>
                <a:cs typeface="Calibri" pitchFamily="34" charset="-120"/>
              </a:rPr>
              <a:t>• Reduces hallucinations by grounding responses in retrieved documents
• Enables AI to access up-to-date information beyond training data
• Cost-effective alternative to fine-tuning large language models</a:t>
            </a:r>
            <a:endParaRPr lang="en-US" sz="1400" dirty="0"/>
          </a:p>
        </p:txBody>
      </p:sp>
      <p:sp>
        <p:nvSpPr>
          <p:cNvPr id="5" name="Shape 3"/>
          <p:cNvSpPr/>
          <p:nvPr/>
        </p:nvSpPr>
        <p:spPr>
          <a:xfrm>
            <a:off x="6428936" y="2335237"/>
            <a:ext cx="1828800" cy="1371600"/>
          </a:xfrm>
          <a:prstGeom prst="rect">
            <a:avLst/>
          </a:prstGeom>
          <a:solidFill>
            <a:srgbClr val="1C7293"/>
          </a:solidFill>
          <a:ln/>
        </p:spPr>
        <p:txBody>
          <a:bodyPr/>
          <a:lstStyle/>
          <a:p>
            <a:endParaRPr lang="en-US"/>
          </a:p>
        </p:txBody>
      </p:sp>
      <p:sp>
        <p:nvSpPr>
          <p:cNvPr id="6" name="Text 4"/>
          <p:cNvSpPr/>
          <p:nvPr/>
        </p:nvSpPr>
        <p:spPr>
          <a:xfrm>
            <a:off x="6428936" y="2335237"/>
            <a:ext cx="1828800" cy="13716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Documents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Retrieval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Generation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Project Overview</a:t>
            </a:r>
            <a:endParaRPr lang="en-US" sz="2800" dirty="0"/>
          </a:p>
        </p:txBody>
      </p:sp>
      <p:sp>
        <p:nvSpPr>
          <p:cNvPr id="3" name="Text 1"/>
          <p:cNvSpPr/>
          <p:nvPr/>
        </p:nvSpPr>
        <p:spPr>
          <a:xfrm>
            <a:off x="457200" y="1371600"/>
            <a:ext cx="8229600" cy="4572000"/>
          </a:xfrm>
          <a:prstGeom prst="rect">
            <a:avLst/>
          </a:prstGeom>
          <a:noFill/>
          <a:ln/>
        </p:spPr>
        <p:txBody>
          <a:bodyPr wrap="square" rtlCol="0" anchor="t"/>
          <a:lstStyle/>
          <a:p>
            <a:pPr marL="0" indent="0">
              <a:buNone/>
            </a:pPr>
            <a:r>
              <a:rPr lang="en-US" sz="1600" b="1" dirty="0">
                <a:solidFill>
                  <a:srgbClr val="2C3E50"/>
                </a:solidFill>
                <a:latin typeface="Calibri" pitchFamily="34" charset="0"/>
                <a:ea typeface="Calibri" pitchFamily="34" charset="-122"/>
                <a:cs typeface="Calibri" pitchFamily="34" charset="-120"/>
              </a:rPr>
              <a:t>Goal: </a:t>
            </a:r>
            <a:r>
              <a:rPr lang="en-US" sz="1600" dirty="0">
                <a:solidFill>
                  <a:srgbClr val="2C3E50"/>
                </a:solidFill>
                <a:latin typeface="Calibri" pitchFamily="34" charset="0"/>
                <a:ea typeface="Calibri" pitchFamily="34" charset="-122"/>
                <a:cs typeface="Calibri" pitchFamily="34" charset="-120"/>
              </a:rPr>
              <a:t>Build an intelligent chatbot using RAG that answers questions based on TeleConnect's knowledge base
</a:t>
            </a:r>
            <a:r>
              <a:rPr lang="en-US" sz="1400" b="1" dirty="0">
                <a:solidFill>
                  <a:srgbClr val="2C3E50"/>
                </a:solidFill>
                <a:latin typeface="Calibri" pitchFamily="34" charset="0"/>
                <a:ea typeface="Calibri" pitchFamily="34" charset="-122"/>
                <a:cs typeface="Calibri" pitchFamily="34" charset="-120"/>
              </a:rPr>
              <a:t>Components:
</a:t>
            </a:r>
            <a:r>
              <a:rPr lang="en-US" sz="1400" b="1" dirty="0">
                <a:solidFill>
                  <a:srgbClr val="1C7293"/>
                </a:solidFill>
                <a:latin typeface="Calibri" pitchFamily="34" charset="0"/>
                <a:ea typeface="Calibri" pitchFamily="34" charset="-122"/>
                <a:cs typeface="Calibri" pitchFamily="34" charset="-120"/>
              </a:rPr>
              <a:t>1. </a:t>
            </a:r>
            <a:r>
              <a:rPr lang="en-US" sz="1400" b="1" dirty="0">
                <a:solidFill>
                  <a:srgbClr val="2C3E50"/>
                </a:solidFill>
                <a:latin typeface="Calibri" pitchFamily="34" charset="0"/>
                <a:ea typeface="Calibri" pitchFamily="34" charset="-122"/>
                <a:cs typeface="Calibri" pitchFamily="34" charset="-120"/>
              </a:rPr>
              <a:t>Document Loading</a:t>
            </a:r>
            <a:r>
              <a:rPr lang="en-US" sz="1400" dirty="0">
                <a:solidFill>
                  <a:srgbClr val="2C3E50"/>
                </a:solidFill>
                <a:latin typeface="Calibri" pitchFamily="34" charset="0"/>
                <a:ea typeface="Calibri" pitchFamily="34" charset="-122"/>
                <a:cs typeface="Calibri" pitchFamily="34" charset="-120"/>
              </a:rPr>
              <a:t> - PDF and CSV files containing service information
</a:t>
            </a:r>
            <a:r>
              <a:rPr lang="en-US" sz="1400" b="1" dirty="0">
                <a:solidFill>
                  <a:srgbClr val="1C7293"/>
                </a:solidFill>
                <a:latin typeface="Calibri" pitchFamily="34" charset="0"/>
                <a:ea typeface="Calibri" pitchFamily="34" charset="-122"/>
                <a:cs typeface="Calibri" pitchFamily="34" charset="-120"/>
              </a:rPr>
              <a:t>2. </a:t>
            </a:r>
            <a:r>
              <a:rPr lang="en-US" sz="1400" b="1" dirty="0">
                <a:solidFill>
                  <a:srgbClr val="2C3E50"/>
                </a:solidFill>
                <a:latin typeface="Calibri" pitchFamily="34" charset="0"/>
                <a:ea typeface="Calibri" pitchFamily="34" charset="-122"/>
                <a:cs typeface="Calibri" pitchFamily="34" charset="-120"/>
              </a:rPr>
              <a:t>Text Chunking</a:t>
            </a:r>
            <a:r>
              <a:rPr lang="en-US" sz="1400" dirty="0">
                <a:solidFill>
                  <a:srgbClr val="2C3E50"/>
                </a:solidFill>
                <a:latin typeface="Calibri" pitchFamily="34" charset="0"/>
                <a:ea typeface="Calibri" pitchFamily="34" charset="-122"/>
                <a:cs typeface="Calibri" pitchFamily="34" charset="-120"/>
              </a:rPr>
              <a:t> - Breaking documents into manageable pieces
</a:t>
            </a:r>
            <a:r>
              <a:rPr lang="en-US" sz="1400" b="1" dirty="0">
                <a:solidFill>
                  <a:srgbClr val="1C7293"/>
                </a:solidFill>
                <a:latin typeface="Calibri" pitchFamily="34" charset="0"/>
                <a:ea typeface="Calibri" pitchFamily="34" charset="-122"/>
                <a:cs typeface="Calibri" pitchFamily="34" charset="-120"/>
              </a:rPr>
              <a:t>3. </a:t>
            </a:r>
            <a:r>
              <a:rPr lang="en-US" sz="1400" b="1" dirty="0">
                <a:solidFill>
                  <a:srgbClr val="2C3E50"/>
                </a:solidFill>
                <a:latin typeface="Calibri" pitchFamily="34" charset="0"/>
                <a:ea typeface="Calibri" pitchFamily="34" charset="-122"/>
                <a:cs typeface="Calibri" pitchFamily="34" charset="-120"/>
              </a:rPr>
              <a:t>Vector Database</a:t>
            </a:r>
            <a:r>
              <a:rPr lang="en-US" sz="1400" dirty="0">
                <a:solidFill>
                  <a:srgbClr val="2C3E50"/>
                </a:solidFill>
                <a:latin typeface="Calibri" pitchFamily="34" charset="0"/>
                <a:ea typeface="Calibri" pitchFamily="34" charset="-122"/>
                <a:cs typeface="Calibri" pitchFamily="34" charset="-120"/>
              </a:rPr>
              <a:t> - FAISS for efficient similarity search
</a:t>
            </a:r>
            <a:r>
              <a:rPr lang="en-US" sz="1400" b="1" dirty="0">
                <a:solidFill>
                  <a:srgbClr val="1C7293"/>
                </a:solidFill>
                <a:latin typeface="Calibri" pitchFamily="34" charset="0"/>
                <a:ea typeface="Calibri" pitchFamily="34" charset="-122"/>
                <a:cs typeface="Calibri" pitchFamily="34" charset="-120"/>
              </a:rPr>
              <a:t>4. </a:t>
            </a:r>
            <a:r>
              <a:rPr lang="en-US" sz="1400" b="1" dirty="0">
                <a:solidFill>
                  <a:srgbClr val="2C3E50"/>
                </a:solidFill>
                <a:latin typeface="Calibri" pitchFamily="34" charset="0"/>
                <a:ea typeface="Calibri" pitchFamily="34" charset="-122"/>
                <a:cs typeface="Calibri" pitchFamily="34" charset="-120"/>
              </a:rPr>
              <a:t>LLM Integration</a:t>
            </a:r>
            <a:r>
              <a:rPr lang="en-US" sz="1400" dirty="0">
                <a:solidFill>
                  <a:srgbClr val="2C3E50"/>
                </a:solidFill>
                <a:latin typeface="Calibri" pitchFamily="34" charset="0"/>
                <a:ea typeface="Calibri" pitchFamily="34" charset="-122"/>
                <a:cs typeface="Calibri" pitchFamily="34" charset="-120"/>
              </a:rPr>
              <a:t> - Mistral-Nemo for response generation
</a:t>
            </a:r>
            <a:r>
              <a:rPr lang="en-US" sz="1400" b="1" dirty="0">
                <a:solidFill>
                  <a:srgbClr val="1C7293"/>
                </a:solidFill>
                <a:latin typeface="Calibri" pitchFamily="34" charset="0"/>
                <a:ea typeface="Calibri" pitchFamily="34" charset="-122"/>
                <a:cs typeface="Calibri" pitchFamily="34" charset="-120"/>
              </a:rPr>
              <a:t>5. </a:t>
            </a:r>
            <a:r>
              <a:rPr lang="en-US" sz="1400" b="1" dirty="0">
                <a:solidFill>
                  <a:srgbClr val="2C3E50"/>
                </a:solidFill>
                <a:latin typeface="Calibri" pitchFamily="34" charset="0"/>
                <a:ea typeface="Calibri" pitchFamily="34" charset="-122"/>
                <a:cs typeface="Calibri" pitchFamily="34" charset="-120"/>
              </a:rPr>
              <a:t>Interactive GUI</a:t>
            </a:r>
            <a:r>
              <a:rPr lang="en-US" sz="1400" dirty="0">
                <a:solidFill>
                  <a:srgbClr val="2C3E50"/>
                </a:solidFill>
                <a:latin typeface="Calibri" pitchFamily="34" charset="0"/>
                <a:ea typeface="Calibri" pitchFamily="34" charset="-122"/>
                <a:cs typeface="Calibri" pitchFamily="34" charset="-120"/>
              </a:rPr>
              <a:t> - User-friendly interface with ipywidgets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47711" y="-8511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Technology Stack</a:t>
            </a:r>
            <a:endParaRPr lang="en-US" sz="2800" dirty="0"/>
          </a:p>
        </p:txBody>
      </p:sp>
      <p:sp>
        <p:nvSpPr>
          <p:cNvPr id="3" name="Shape 1"/>
          <p:cNvSpPr/>
          <p:nvPr/>
        </p:nvSpPr>
        <p:spPr>
          <a:xfrm>
            <a:off x="422031" y="920730"/>
            <a:ext cx="3200400" cy="594360"/>
          </a:xfrm>
          <a:prstGeom prst="rect">
            <a:avLst/>
          </a:prstGeom>
          <a:solidFill>
            <a:srgbClr val="1C7293"/>
          </a:solidFill>
          <a:ln/>
        </p:spPr>
        <p:txBody>
          <a:bodyPr/>
          <a:lstStyle/>
          <a:p>
            <a:endParaRPr lang="en-US"/>
          </a:p>
        </p:txBody>
      </p:sp>
      <p:sp>
        <p:nvSpPr>
          <p:cNvPr id="4" name="Text 2"/>
          <p:cNvSpPr/>
          <p:nvPr/>
        </p:nvSpPr>
        <p:spPr>
          <a:xfrm>
            <a:off x="513471" y="993882"/>
            <a:ext cx="30175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LangChain</a:t>
            </a:r>
            <a:endParaRPr lang="en-US" sz="1400" dirty="0"/>
          </a:p>
        </p:txBody>
      </p:sp>
      <p:sp>
        <p:nvSpPr>
          <p:cNvPr id="5" name="Text 2"/>
          <p:cNvSpPr/>
          <p:nvPr/>
        </p:nvSpPr>
        <p:spPr>
          <a:xfrm>
            <a:off x="3896751" y="993882"/>
            <a:ext cx="4572000" cy="4572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Framework for LLM applications</a:t>
            </a:r>
            <a:endParaRPr lang="en-US" sz="1300" dirty="0"/>
          </a:p>
        </p:txBody>
      </p:sp>
      <p:sp>
        <p:nvSpPr>
          <p:cNvPr id="6" name="Shape 4"/>
          <p:cNvSpPr/>
          <p:nvPr/>
        </p:nvSpPr>
        <p:spPr>
          <a:xfrm>
            <a:off x="422031" y="1606530"/>
            <a:ext cx="3200400" cy="594360"/>
          </a:xfrm>
          <a:prstGeom prst="rect">
            <a:avLst/>
          </a:prstGeom>
          <a:solidFill>
            <a:srgbClr val="065A82"/>
          </a:solidFill>
          <a:ln/>
        </p:spPr>
        <p:txBody>
          <a:bodyPr/>
          <a:lstStyle/>
          <a:p>
            <a:endParaRPr lang="en-US"/>
          </a:p>
        </p:txBody>
      </p:sp>
      <p:sp>
        <p:nvSpPr>
          <p:cNvPr id="7" name="Text 5"/>
          <p:cNvSpPr/>
          <p:nvPr/>
        </p:nvSpPr>
        <p:spPr>
          <a:xfrm>
            <a:off x="513471" y="1679682"/>
            <a:ext cx="30175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FAISS</a:t>
            </a:r>
            <a:endParaRPr lang="en-US" sz="1400" dirty="0"/>
          </a:p>
        </p:txBody>
      </p:sp>
      <p:sp>
        <p:nvSpPr>
          <p:cNvPr id="8" name="Text 2"/>
          <p:cNvSpPr/>
          <p:nvPr/>
        </p:nvSpPr>
        <p:spPr>
          <a:xfrm>
            <a:off x="3896751" y="1679682"/>
            <a:ext cx="4572000" cy="4572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Vector similarity search</a:t>
            </a:r>
            <a:endParaRPr lang="en-US" sz="1300" dirty="0"/>
          </a:p>
        </p:txBody>
      </p:sp>
      <p:sp>
        <p:nvSpPr>
          <p:cNvPr id="9" name="Shape 7"/>
          <p:cNvSpPr/>
          <p:nvPr/>
        </p:nvSpPr>
        <p:spPr>
          <a:xfrm>
            <a:off x="422031" y="2292330"/>
            <a:ext cx="3200400" cy="594360"/>
          </a:xfrm>
          <a:prstGeom prst="rect">
            <a:avLst/>
          </a:prstGeom>
          <a:solidFill>
            <a:srgbClr val="1C7293"/>
          </a:solidFill>
          <a:ln/>
        </p:spPr>
        <p:txBody>
          <a:bodyPr/>
          <a:lstStyle/>
          <a:p>
            <a:endParaRPr lang="en-US"/>
          </a:p>
        </p:txBody>
      </p:sp>
      <p:sp>
        <p:nvSpPr>
          <p:cNvPr id="10" name="Text 8"/>
          <p:cNvSpPr/>
          <p:nvPr/>
        </p:nvSpPr>
        <p:spPr>
          <a:xfrm>
            <a:off x="513471" y="2365482"/>
            <a:ext cx="30175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HuggingFace</a:t>
            </a:r>
            <a:endParaRPr lang="en-US" sz="1400" dirty="0"/>
          </a:p>
        </p:txBody>
      </p:sp>
      <p:sp>
        <p:nvSpPr>
          <p:cNvPr id="11" name="Text 2"/>
          <p:cNvSpPr/>
          <p:nvPr/>
        </p:nvSpPr>
        <p:spPr>
          <a:xfrm>
            <a:off x="3896751" y="2365482"/>
            <a:ext cx="4572000" cy="4572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Embeddings &amp; LLM model</a:t>
            </a:r>
            <a:endParaRPr lang="en-US" sz="1300" dirty="0"/>
          </a:p>
        </p:txBody>
      </p:sp>
      <p:sp>
        <p:nvSpPr>
          <p:cNvPr id="12" name="Shape 10"/>
          <p:cNvSpPr/>
          <p:nvPr/>
        </p:nvSpPr>
        <p:spPr>
          <a:xfrm>
            <a:off x="422031" y="2978130"/>
            <a:ext cx="3200400" cy="594360"/>
          </a:xfrm>
          <a:prstGeom prst="rect">
            <a:avLst/>
          </a:prstGeom>
          <a:solidFill>
            <a:srgbClr val="065A82"/>
          </a:solidFill>
          <a:ln/>
        </p:spPr>
        <p:txBody>
          <a:bodyPr/>
          <a:lstStyle/>
          <a:p>
            <a:endParaRPr lang="en-US"/>
          </a:p>
        </p:txBody>
      </p:sp>
      <p:sp>
        <p:nvSpPr>
          <p:cNvPr id="13" name="Text 11"/>
          <p:cNvSpPr/>
          <p:nvPr/>
        </p:nvSpPr>
        <p:spPr>
          <a:xfrm>
            <a:off x="513471" y="3051282"/>
            <a:ext cx="30175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PyPDF</a:t>
            </a:r>
            <a:endParaRPr lang="en-US" sz="1400" dirty="0"/>
          </a:p>
        </p:txBody>
      </p:sp>
      <p:sp>
        <p:nvSpPr>
          <p:cNvPr id="14" name="Text 2"/>
          <p:cNvSpPr/>
          <p:nvPr/>
        </p:nvSpPr>
        <p:spPr>
          <a:xfrm>
            <a:off x="3896751" y="3051282"/>
            <a:ext cx="4572000" cy="4572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PDF document loading</a:t>
            </a:r>
            <a:endParaRPr lang="en-US" sz="1300" dirty="0"/>
          </a:p>
        </p:txBody>
      </p:sp>
      <p:sp>
        <p:nvSpPr>
          <p:cNvPr id="15" name="Shape 13"/>
          <p:cNvSpPr/>
          <p:nvPr/>
        </p:nvSpPr>
        <p:spPr>
          <a:xfrm>
            <a:off x="422031" y="3663930"/>
            <a:ext cx="3200400" cy="594360"/>
          </a:xfrm>
          <a:prstGeom prst="rect">
            <a:avLst/>
          </a:prstGeom>
          <a:solidFill>
            <a:srgbClr val="1C7293"/>
          </a:solidFill>
          <a:ln/>
        </p:spPr>
        <p:txBody>
          <a:bodyPr/>
          <a:lstStyle/>
          <a:p>
            <a:endParaRPr lang="en-US"/>
          </a:p>
        </p:txBody>
      </p:sp>
      <p:sp>
        <p:nvSpPr>
          <p:cNvPr id="16" name="Text 14"/>
          <p:cNvSpPr/>
          <p:nvPr/>
        </p:nvSpPr>
        <p:spPr>
          <a:xfrm>
            <a:off x="513471" y="3737082"/>
            <a:ext cx="30175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Transformers</a:t>
            </a:r>
            <a:endParaRPr lang="en-US" sz="1400" dirty="0"/>
          </a:p>
        </p:txBody>
      </p:sp>
      <p:sp>
        <p:nvSpPr>
          <p:cNvPr id="17" name="Text 2"/>
          <p:cNvSpPr/>
          <p:nvPr/>
        </p:nvSpPr>
        <p:spPr>
          <a:xfrm>
            <a:off x="3896751" y="3737082"/>
            <a:ext cx="4572000" cy="4572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Model interface</a:t>
            </a:r>
            <a:endParaRPr lang="en-US" sz="1300" dirty="0"/>
          </a:p>
        </p:txBody>
      </p:sp>
      <p:sp>
        <p:nvSpPr>
          <p:cNvPr id="18" name="Shape 16"/>
          <p:cNvSpPr/>
          <p:nvPr/>
        </p:nvSpPr>
        <p:spPr>
          <a:xfrm>
            <a:off x="422031" y="4349730"/>
            <a:ext cx="3200400" cy="594360"/>
          </a:xfrm>
          <a:prstGeom prst="rect">
            <a:avLst/>
          </a:prstGeom>
          <a:solidFill>
            <a:srgbClr val="065A82"/>
          </a:solidFill>
          <a:ln/>
        </p:spPr>
        <p:txBody>
          <a:bodyPr/>
          <a:lstStyle/>
          <a:p>
            <a:endParaRPr lang="en-US"/>
          </a:p>
        </p:txBody>
      </p:sp>
      <p:sp>
        <p:nvSpPr>
          <p:cNvPr id="19" name="Text 17"/>
          <p:cNvSpPr/>
          <p:nvPr/>
        </p:nvSpPr>
        <p:spPr>
          <a:xfrm>
            <a:off x="513471" y="4422882"/>
            <a:ext cx="30175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ipywidgets</a:t>
            </a:r>
            <a:endParaRPr lang="en-US" sz="1400" dirty="0"/>
          </a:p>
        </p:txBody>
      </p:sp>
      <p:sp>
        <p:nvSpPr>
          <p:cNvPr id="20" name="Text 2"/>
          <p:cNvSpPr/>
          <p:nvPr/>
        </p:nvSpPr>
        <p:spPr>
          <a:xfrm>
            <a:off x="3896751" y="4422882"/>
            <a:ext cx="4572000" cy="45720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Interactive GUI</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Setup &amp; Installation</a:t>
            </a:r>
            <a:endParaRPr lang="en-US" sz="2800" dirty="0"/>
          </a:p>
        </p:txBody>
      </p:sp>
      <p:sp>
        <p:nvSpPr>
          <p:cNvPr id="3" name="Text 1"/>
          <p:cNvSpPr/>
          <p:nvPr/>
        </p:nvSpPr>
        <p:spPr>
          <a:xfrm>
            <a:off x="457200" y="1280160"/>
            <a:ext cx="8229600" cy="457200"/>
          </a:xfrm>
          <a:prstGeom prst="rect">
            <a:avLst/>
          </a:prstGeom>
          <a:noFill/>
          <a:ln/>
        </p:spPr>
        <p:txBody>
          <a:bodyPr wrap="square" rtlCol="0" anchor="ctr"/>
          <a:lstStyle/>
          <a:p>
            <a:pPr marL="0" indent="0">
              <a:buNone/>
            </a:pPr>
            <a:r>
              <a:rPr lang="en-US" sz="1800" b="1" dirty="0">
                <a:solidFill>
                  <a:srgbClr val="1C7293"/>
                </a:solidFill>
                <a:latin typeface="Calibri" pitchFamily="34" charset="0"/>
                <a:ea typeface="Calibri" pitchFamily="34" charset="-122"/>
                <a:cs typeface="Calibri" pitchFamily="34" charset="-120"/>
              </a:rPr>
              <a:t>Required Libraries</a:t>
            </a:r>
            <a:endParaRPr lang="en-US" sz="1800" dirty="0"/>
          </a:p>
        </p:txBody>
      </p:sp>
      <p:sp>
        <p:nvSpPr>
          <p:cNvPr id="4" name="Text 2"/>
          <p:cNvSpPr/>
          <p:nvPr/>
        </p:nvSpPr>
        <p:spPr>
          <a:xfrm>
            <a:off x="731520" y="1920240"/>
            <a:ext cx="7680960" cy="1097280"/>
          </a:xfrm>
          <a:prstGeom prst="rect">
            <a:avLst/>
          </a:prstGeom>
          <a:solidFill>
            <a:srgbClr val="F5F5F5"/>
          </a:solidFill>
          <a:ln/>
        </p:spPr>
        <p:txBody>
          <a:bodyPr wrap="square" lIns="2540" tIns="2540" rIns="2540" bIns="2540" rtlCol="0" anchor="ctr"/>
          <a:lstStyle/>
          <a:p>
            <a:pPr marL="0" indent="0">
              <a:buNone/>
            </a:pPr>
            <a:r>
              <a:rPr lang="en-US" sz="1200" dirty="0">
                <a:solidFill>
                  <a:srgbClr val="21295C"/>
                </a:solidFill>
                <a:latin typeface="Consolas" pitchFamily="34" charset="0"/>
                <a:ea typeface="Consolas" pitchFamily="34" charset="-122"/>
                <a:cs typeface="Consolas" pitchFamily="34" charset="-120"/>
              </a:rPr>
              <a:t>pip install faiss-cpu langchain \
  langchain-community langchain-core \
  pypdf sentence-transformers \
  transformers==4.52.4 torch</a:t>
            </a:r>
            <a:endParaRPr lang="en-US" sz="1200" dirty="0"/>
          </a:p>
        </p:txBody>
      </p:sp>
      <p:sp>
        <p:nvSpPr>
          <p:cNvPr id="5" name="Text 3"/>
          <p:cNvSpPr/>
          <p:nvPr/>
        </p:nvSpPr>
        <p:spPr>
          <a:xfrm>
            <a:off x="731520" y="3383280"/>
            <a:ext cx="7680960" cy="2286000"/>
          </a:xfrm>
          <a:prstGeom prst="rect">
            <a:avLst/>
          </a:prstGeom>
          <a:noFill/>
          <a:ln/>
        </p:spPr>
        <p:txBody>
          <a:bodyPr wrap="square" rtlCol="0" anchor="t"/>
          <a:lstStyle/>
          <a:p>
            <a:pPr marL="0" indent="0">
              <a:buNone/>
            </a:pPr>
            <a:r>
              <a:rPr lang="en-US" sz="1400" b="1" dirty="0">
                <a:solidFill>
                  <a:srgbClr val="2C3E50"/>
                </a:solidFill>
                <a:latin typeface="Calibri" pitchFamily="34" charset="0"/>
                <a:ea typeface="Calibri" pitchFamily="34" charset="-122"/>
                <a:cs typeface="Calibri" pitchFamily="34" charset="-120"/>
              </a:rPr>
              <a:t>Key Dependencies:
</a:t>
            </a:r>
            <a:r>
              <a:rPr lang="en-US" sz="1400" dirty="0">
                <a:solidFill>
                  <a:srgbClr val="2C3E50"/>
                </a:solidFill>
                <a:latin typeface="Calibri" pitchFamily="34" charset="0"/>
                <a:ea typeface="Calibri" pitchFamily="34" charset="-122"/>
                <a:cs typeface="Calibri" pitchFamily="34" charset="-120"/>
              </a:rPr>
              <a:t>• FAISS for vector storage and retrieval
• LangChain for document processing and RAG pipeline
• Sentence-transformers for embedding generation
• PyTorch and Transformers for the LLM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Data Loading Process</a:t>
            </a:r>
            <a:endParaRPr lang="en-US" sz="2800" dirty="0"/>
          </a:p>
        </p:txBody>
      </p:sp>
      <p:sp>
        <p:nvSpPr>
          <p:cNvPr id="3" name="Text 1"/>
          <p:cNvSpPr/>
          <p:nvPr/>
        </p:nvSpPr>
        <p:spPr>
          <a:xfrm>
            <a:off x="457200" y="1371600"/>
            <a:ext cx="4114800" cy="4572000"/>
          </a:xfrm>
          <a:prstGeom prst="rect">
            <a:avLst/>
          </a:prstGeom>
          <a:noFill/>
          <a:ln/>
        </p:spPr>
        <p:txBody>
          <a:bodyPr wrap="square" rtlCol="0" anchor="t"/>
          <a:lstStyle/>
          <a:p>
            <a:pPr marL="0" indent="0">
              <a:buNone/>
            </a:pPr>
            <a:r>
              <a:rPr lang="en-US" sz="1600" b="1" dirty="0">
                <a:solidFill>
                  <a:srgbClr val="1C7293"/>
                </a:solidFill>
                <a:latin typeface="Calibri" pitchFamily="34" charset="0"/>
                <a:ea typeface="Calibri" pitchFamily="34" charset="-122"/>
                <a:cs typeface="Calibri" pitchFamily="34" charset="-120"/>
              </a:rPr>
              <a:t>Multi-format Support
</a:t>
            </a:r>
            <a:r>
              <a:rPr lang="en-US" sz="1400" dirty="0">
                <a:solidFill>
                  <a:srgbClr val="2C3E50"/>
                </a:solidFill>
                <a:latin typeface="Calibri" pitchFamily="34" charset="0"/>
                <a:ea typeface="Calibri" pitchFamily="34" charset="-122"/>
                <a:cs typeface="Calibri" pitchFamily="34" charset="-120"/>
              </a:rPr>
              <a:t>The system loads documents from multiple sources:
</a:t>
            </a:r>
            <a:r>
              <a:rPr lang="en-US" sz="1400" b="1" dirty="0">
                <a:solidFill>
                  <a:srgbClr val="2C3E50"/>
                </a:solidFill>
                <a:latin typeface="Calibri" pitchFamily="34" charset="0"/>
                <a:ea typeface="Calibri" pitchFamily="34" charset="-122"/>
                <a:cs typeface="Calibri" pitchFamily="34" charset="-120"/>
              </a:rPr>
              <a:t>PDF Files: </a:t>
            </a:r>
            <a:r>
              <a:rPr lang="en-US" sz="1400" dirty="0">
                <a:solidFill>
                  <a:srgbClr val="2C3E50"/>
                </a:solidFill>
                <a:latin typeface="Calibri" pitchFamily="34" charset="0"/>
                <a:ea typeface="Calibri" pitchFamily="34" charset="-122"/>
                <a:cs typeface="Calibri" pitchFamily="34" charset="-120"/>
              </a:rPr>
              <a:t>PyPDFLoader extracts text from knowledge base documents
</a:t>
            </a:r>
            <a:r>
              <a:rPr lang="en-US" sz="1400" b="1" dirty="0">
                <a:solidFill>
                  <a:srgbClr val="2C3E50"/>
                </a:solidFill>
                <a:latin typeface="Calibri" pitchFamily="34" charset="0"/>
                <a:ea typeface="Calibri" pitchFamily="34" charset="-122"/>
                <a:cs typeface="Calibri" pitchFamily="34" charset="-120"/>
              </a:rPr>
              <a:t>CSV Files: </a:t>
            </a:r>
            <a:r>
              <a:rPr lang="en-US" sz="1400" dirty="0">
                <a:solidFill>
                  <a:srgbClr val="2C3E50"/>
                </a:solidFill>
                <a:latin typeface="Calibri" pitchFamily="34" charset="0"/>
                <a:ea typeface="Calibri" pitchFamily="34" charset="-122"/>
                <a:cs typeface="Calibri" pitchFamily="34" charset="-120"/>
              </a:rPr>
              <a:t>CSVLoader handles structured data like service plans
</a:t>
            </a:r>
            <a:r>
              <a:rPr lang="en-US" sz="1400" b="1" dirty="0">
                <a:solidFill>
                  <a:srgbClr val="2C3E50"/>
                </a:solidFill>
                <a:latin typeface="Calibri" pitchFamily="34" charset="0"/>
                <a:ea typeface="Calibri" pitchFamily="34" charset="-122"/>
                <a:cs typeface="Calibri" pitchFamily="34" charset="-120"/>
              </a:rPr>
              <a:t>Files Loaded:
</a:t>
            </a:r>
            <a:r>
              <a:rPr lang="en-US" sz="1400" dirty="0">
                <a:solidFill>
                  <a:srgbClr val="2C3E50"/>
                </a:solidFill>
                <a:latin typeface="Calibri" pitchFamily="34" charset="0"/>
                <a:ea typeface="Calibri" pitchFamily="34" charset="-122"/>
                <a:cs typeface="Calibri" pitchFamily="34" charset="-120"/>
              </a:rPr>
              <a:t>• TeleConnect_Customer_Service_Knowledge_Base.pdf
• TeleConnect_Service_Plans.csv</a:t>
            </a:r>
            <a:endParaRPr lang="en-US" sz="1600" dirty="0"/>
          </a:p>
        </p:txBody>
      </p:sp>
      <p:sp>
        <p:nvSpPr>
          <p:cNvPr id="4" name="Shape 2"/>
          <p:cNvSpPr/>
          <p:nvPr/>
        </p:nvSpPr>
        <p:spPr>
          <a:xfrm>
            <a:off x="5029200" y="1223889"/>
            <a:ext cx="3657600" cy="3200400"/>
          </a:xfrm>
          <a:prstGeom prst="rect">
            <a:avLst/>
          </a:prstGeom>
          <a:solidFill>
            <a:srgbClr val="F5F5F5"/>
          </a:solidFill>
          <a:ln w="12700">
            <a:solidFill>
              <a:srgbClr val="065A82"/>
            </a:solidFill>
            <a:prstDash val="solid"/>
          </a:ln>
        </p:spPr>
        <p:txBody>
          <a:bodyPr/>
          <a:lstStyle/>
          <a:p>
            <a:endParaRPr lang="en-US"/>
          </a:p>
        </p:txBody>
      </p:sp>
      <p:sp>
        <p:nvSpPr>
          <p:cNvPr id="5" name="Text 3"/>
          <p:cNvSpPr/>
          <p:nvPr/>
        </p:nvSpPr>
        <p:spPr>
          <a:xfrm>
            <a:off x="5212080" y="1589649"/>
            <a:ext cx="3474720" cy="2834640"/>
          </a:xfrm>
          <a:prstGeom prst="rect">
            <a:avLst/>
          </a:prstGeom>
          <a:noFill/>
          <a:ln/>
        </p:spPr>
        <p:txBody>
          <a:bodyPr wrap="square" rtlCol="0" anchor="t"/>
          <a:lstStyle/>
          <a:p>
            <a:pPr marL="0" indent="0">
              <a:buNone/>
            </a:pPr>
            <a:r>
              <a:rPr lang="en-US" sz="1200" dirty="0">
                <a:solidFill>
                  <a:srgbClr val="21295C"/>
                </a:solidFill>
                <a:latin typeface="Consolas" pitchFamily="34" charset="0"/>
                <a:ea typeface="Consolas" pitchFamily="34" charset="-122"/>
                <a:cs typeface="Consolas" pitchFamily="34" charset="-120"/>
              </a:rPr>
              <a:t>for file_path in files: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if file_path.endswith('.pdf'):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loader = PyPDFLoader(file_path)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elif file_path.endswith('.csv'):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loader = CSVLoader(file_path)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all_documents.extend(</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loader.load())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Text Chunking Strategy</a:t>
            </a:r>
            <a:endParaRPr lang="en-US" sz="2800" dirty="0"/>
          </a:p>
        </p:txBody>
      </p:sp>
      <p:sp>
        <p:nvSpPr>
          <p:cNvPr id="3" name="Text 1"/>
          <p:cNvSpPr/>
          <p:nvPr/>
        </p:nvSpPr>
        <p:spPr>
          <a:xfrm>
            <a:off x="457200" y="1371600"/>
            <a:ext cx="4572000" cy="4572000"/>
          </a:xfrm>
          <a:prstGeom prst="rect">
            <a:avLst/>
          </a:prstGeom>
          <a:noFill/>
          <a:ln/>
        </p:spPr>
        <p:txBody>
          <a:bodyPr wrap="square" rtlCol="0" anchor="t"/>
          <a:lstStyle/>
          <a:p>
            <a:pPr marL="0" indent="0">
              <a:buNone/>
            </a:pPr>
            <a:r>
              <a:rPr lang="en-US" sz="1600" b="1" dirty="0">
                <a:solidFill>
                  <a:srgbClr val="1C7293"/>
                </a:solidFill>
                <a:latin typeface="Calibri" pitchFamily="34" charset="0"/>
                <a:ea typeface="Calibri" pitchFamily="34" charset="-122"/>
                <a:cs typeface="Calibri" pitchFamily="34" charset="-120"/>
              </a:rPr>
              <a:t>Why Chunking?
</a:t>
            </a:r>
            <a:r>
              <a:rPr lang="en-US" sz="1400" dirty="0">
                <a:solidFill>
                  <a:srgbClr val="2C3E50"/>
                </a:solidFill>
                <a:latin typeface="Calibri" pitchFamily="34" charset="0"/>
                <a:ea typeface="Calibri" pitchFamily="34" charset="-122"/>
                <a:cs typeface="Calibri" pitchFamily="34" charset="-120"/>
              </a:rPr>
              <a:t>Documents must be split into smaller chunks for effective retrieval and processing.
</a:t>
            </a:r>
            <a:r>
              <a:rPr lang="en-US" sz="1400" b="1" dirty="0">
                <a:solidFill>
                  <a:srgbClr val="2C3E50"/>
                </a:solidFill>
                <a:latin typeface="Calibri" pitchFamily="34" charset="0"/>
                <a:ea typeface="Calibri" pitchFamily="34" charset="-122"/>
                <a:cs typeface="Calibri" pitchFamily="34" charset="-120"/>
              </a:rPr>
              <a:t>Configuration:
</a:t>
            </a:r>
            <a:r>
              <a:rPr lang="en-US" sz="1400" dirty="0">
                <a:solidFill>
                  <a:srgbClr val="2C3E50"/>
                </a:solidFill>
                <a:latin typeface="Calibri" pitchFamily="34" charset="0"/>
                <a:ea typeface="Calibri" pitchFamily="34" charset="-122"/>
                <a:cs typeface="Calibri" pitchFamily="34" charset="-120"/>
              </a:rPr>
              <a:t>• Chunk Size: 1000 characters per chunk
• Overlap: 100 characters between consecutive chunks
</a:t>
            </a:r>
            <a:r>
              <a:rPr lang="en-US" sz="1400" b="1" dirty="0">
                <a:solidFill>
                  <a:srgbClr val="2C3E50"/>
                </a:solidFill>
                <a:latin typeface="Calibri" pitchFamily="34" charset="0"/>
                <a:ea typeface="Calibri" pitchFamily="34" charset="-122"/>
                <a:cs typeface="Calibri" pitchFamily="34" charset="-120"/>
              </a:rPr>
              <a:t>Benefits:
</a:t>
            </a:r>
            <a:r>
              <a:rPr lang="en-US" sz="1400" dirty="0">
                <a:solidFill>
                  <a:srgbClr val="2C3E50"/>
                </a:solidFill>
                <a:latin typeface="Calibri" pitchFamily="34" charset="0"/>
                <a:ea typeface="Calibri" pitchFamily="34" charset="-122"/>
                <a:cs typeface="Calibri" pitchFamily="34" charset="-120"/>
              </a:rPr>
              <a:t>• Maintains context across chunk boundaries
• Enables precise information retrieval
• Optimizes embedding quality</a:t>
            </a:r>
            <a:endParaRPr lang="en-US" sz="1600" dirty="0"/>
          </a:p>
        </p:txBody>
      </p:sp>
      <p:sp>
        <p:nvSpPr>
          <p:cNvPr id="4" name="Shape 2"/>
          <p:cNvSpPr/>
          <p:nvPr/>
        </p:nvSpPr>
        <p:spPr>
          <a:xfrm>
            <a:off x="5486400" y="2011680"/>
            <a:ext cx="3200400" cy="2286000"/>
          </a:xfrm>
          <a:prstGeom prst="rect">
            <a:avLst/>
          </a:prstGeom>
          <a:solidFill>
            <a:srgbClr val="065A82"/>
          </a:solidFill>
          <a:ln/>
        </p:spPr>
        <p:txBody>
          <a:bodyPr/>
          <a:lstStyle/>
          <a:p>
            <a:endParaRPr lang="en-US"/>
          </a:p>
        </p:txBody>
      </p:sp>
      <p:sp>
        <p:nvSpPr>
          <p:cNvPr id="5" name="Text 3"/>
          <p:cNvSpPr/>
          <p:nvPr/>
        </p:nvSpPr>
        <p:spPr>
          <a:xfrm>
            <a:off x="5669280" y="2286000"/>
            <a:ext cx="2834640" cy="1828800"/>
          </a:xfrm>
          <a:prstGeom prst="rect">
            <a:avLst/>
          </a:prstGeom>
          <a:noFill/>
          <a:ln/>
        </p:spPr>
        <p:txBody>
          <a:bodyPr wrap="square"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CharacterTextSplitter
</a:t>
            </a:r>
            <a:r>
              <a:rPr lang="en-US" sz="1200" dirty="0">
                <a:solidFill>
                  <a:srgbClr val="F5F5F5"/>
                </a:solidFill>
                <a:latin typeface="Consolas" pitchFamily="34" charset="0"/>
                <a:ea typeface="Consolas" pitchFamily="34" charset="-122"/>
                <a:cs typeface="Consolas" pitchFamily="34" charset="-120"/>
              </a:rPr>
              <a:t>chunk_size=1000
chunk_overlap=100
</a:t>
            </a:r>
            <a:r>
              <a:rPr lang="en-US" sz="1300" dirty="0">
                <a:solidFill>
                  <a:srgbClr val="FFFFFF"/>
                </a:solidFill>
                <a:latin typeface="Calibri" pitchFamily="34" charset="0"/>
                <a:ea typeface="Calibri" pitchFamily="34" charset="-122"/>
                <a:cs typeface="Calibri" pitchFamily="34" charset="-120"/>
              </a:rPr>
              <a:t>Total chunks: 4</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Vector Embeddings &amp; FAISS</a:t>
            </a:r>
            <a:endParaRPr lang="en-US" sz="2800" dirty="0"/>
          </a:p>
        </p:txBody>
      </p:sp>
      <p:sp>
        <p:nvSpPr>
          <p:cNvPr id="3" name="Text 1"/>
          <p:cNvSpPr/>
          <p:nvPr/>
        </p:nvSpPr>
        <p:spPr>
          <a:xfrm>
            <a:off x="457200" y="1371600"/>
            <a:ext cx="8229600" cy="4572000"/>
          </a:xfrm>
          <a:prstGeom prst="rect">
            <a:avLst/>
          </a:prstGeom>
          <a:noFill/>
          <a:ln/>
        </p:spPr>
        <p:txBody>
          <a:bodyPr wrap="square" rtlCol="0" anchor="t"/>
          <a:lstStyle/>
          <a:p>
            <a:pPr marL="0" indent="0">
              <a:buNone/>
            </a:pPr>
            <a:r>
              <a:rPr lang="en-US" sz="1600" b="1" dirty="0">
                <a:solidFill>
                  <a:srgbClr val="2C3E50"/>
                </a:solidFill>
                <a:latin typeface="Calibri" pitchFamily="34" charset="0"/>
                <a:ea typeface="Calibri" pitchFamily="34" charset="-122"/>
                <a:cs typeface="Calibri" pitchFamily="34" charset="-120"/>
              </a:rPr>
              <a:t>Embedding Model: </a:t>
            </a:r>
            <a:r>
              <a:rPr lang="en-US" sz="1600" dirty="0">
                <a:solidFill>
                  <a:srgbClr val="2C3E50"/>
                </a:solidFill>
                <a:latin typeface="Calibri" pitchFamily="34" charset="0"/>
                <a:ea typeface="Calibri" pitchFamily="34" charset="-122"/>
                <a:cs typeface="Calibri" pitchFamily="34" charset="-120"/>
              </a:rPr>
              <a:t>sentence-transformers/all-MiniLM-L6-v2
</a:t>
            </a:r>
            <a:r>
              <a:rPr lang="en-US" sz="1400" b="1" dirty="0">
                <a:solidFill>
                  <a:srgbClr val="2C3E50"/>
                </a:solidFill>
                <a:latin typeface="Calibri" pitchFamily="34" charset="0"/>
                <a:ea typeface="Calibri" pitchFamily="34" charset="-122"/>
                <a:cs typeface="Calibri" pitchFamily="34" charset="-120"/>
              </a:rPr>
              <a:t>How It Works:
</a:t>
            </a:r>
            <a:r>
              <a:rPr lang="en-US" sz="1400" dirty="0">
                <a:solidFill>
                  <a:srgbClr val="2C3E50"/>
                </a:solidFill>
                <a:latin typeface="Calibri" pitchFamily="34" charset="0"/>
                <a:ea typeface="Calibri" pitchFamily="34" charset="-122"/>
                <a:cs typeface="Calibri" pitchFamily="34" charset="-120"/>
              </a:rPr>
              <a:t>1. Each text chunk is converted into a high-dimensional vector
2. Vectors capture semantic meaning of the text
3. FAISS indexes these vectors for fast similarity search
4. During queries, user questions are embedded using the same model
5. FAISS finds the most similar document chunks
</a:t>
            </a:r>
            <a:r>
              <a:rPr lang="en-US" sz="1400" b="1" dirty="0">
                <a:solidFill>
                  <a:srgbClr val="2C3E50"/>
                </a:solidFill>
                <a:latin typeface="Calibri" pitchFamily="34" charset="0"/>
                <a:ea typeface="Calibri" pitchFamily="34" charset="-122"/>
                <a:cs typeface="Calibri" pitchFamily="34" charset="-120"/>
              </a:rPr>
              <a:t>Why FAISS?
</a:t>
            </a:r>
            <a:r>
              <a:rPr lang="en-US" sz="1400" dirty="0">
                <a:solidFill>
                  <a:srgbClr val="2C3E50"/>
                </a:solidFill>
                <a:latin typeface="Calibri" pitchFamily="34" charset="0"/>
                <a:ea typeface="Calibri" pitchFamily="34" charset="-122"/>
                <a:cs typeface="Calibri" pitchFamily="34" charset="-120"/>
              </a:rPr>
              <a:t>• Extremely fast similarity search
• Efficient memory usage
• Industry-standard for vector databases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LLM Integration</a:t>
            </a:r>
            <a:endParaRPr lang="en-US" sz="2800" dirty="0"/>
          </a:p>
        </p:txBody>
      </p:sp>
      <p:sp>
        <p:nvSpPr>
          <p:cNvPr id="3" name="Text 1"/>
          <p:cNvSpPr/>
          <p:nvPr/>
        </p:nvSpPr>
        <p:spPr>
          <a:xfrm>
            <a:off x="457200" y="1280160"/>
            <a:ext cx="8229600" cy="457200"/>
          </a:xfrm>
          <a:prstGeom prst="rect">
            <a:avLst/>
          </a:prstGeom>
          <a:noFill/>
          <a:ln/>
        </p:spPr>
        <p:txBody>
          <a:bodyPr wrap="square" rtlCol="0" anchor="ctr"/>
          <a:lstStyle/>
          <a:p>
            <a:pPr marL="0" indent="0">
              <a:buNone/>
            </a:pPr>
            <a:r>
              <a:rPr lang="en-US" sz="1800" b="1" dirty="0">
                <a:solidFill>
                  <a:srgbClr val="1C7293"/>
                </a:solidFill>
                <a:latin typeface="Calibri" pitchFamily="34" charset="0"/>
                <a:ea typeface="Calibri" pitchFamily="34" charset="-122"/>
                <a:cs typeface="Calibri" pitchFamily="34" charset="-120"/>
              </a:rPr>
              <a:t>Model: Mistral-Nemo-Instruct-2407</a:t>
            </a:r>
            <a:endParaRPr lang="en-US" sz="1800" dirty="0"/>
          </a:p>
        </p:txBody>
      </p:sp>
      <p:sp>
        <p:nvSpPr>
          <p:cNvPr id="4" name="Text 2"/>
          <p:cNvSpPr/>
          <p:nvPr/>
        </p:nvSpPr>
        <p:spPr>
          <a:xfrm>
            <a:off x="457200" y="1920240"/>
            <a:ext cx="4572000" cy="3657600"/>
          </a:xfrm>
          <a:prstGeom prst="rect">
            <a:avLst/>
          </a:prstGeom>
          <a:noFill/>
          <a:ln/>
        </p:spPr>
        <p:txBody>
          <a:bodyPr wrap="square" rtlCol="0" anchor="t"/>
          <a:lstStyle/>
          <a:p>
            <a:pPr marL="0" indent="0">
              <a:buNone/>
            </a:pPr>
            <a:r>
              <a:rPr lang="en-US" sz="1400" b="1" dirty="0">
                <a:solidFill>
                  <a:srgbClr val="2C3E50"/>
                </a:solidFill>
                <a:latin typeface="Calibri" pitchFamily="34" charset="0"/>
                <a:ea typeface="Calibri" pitchFamily="34" charset="-122"/>
                <a:cs typeface="Calibri" pitchFamily="34" charset="-120"/>
              </a:rPr>
              <a:t>Generation Parameters:
</a:t>
            </a:r>
            <a:r>
              <a:rPr lang="en-US" sz="1400" dirty="0">
                <a:solidFill>
                  <a:srgbClr val="2C3E50"/>
                </a:solidFill>
                <a:latin typeface="Calibri" pitchFamily="34" charset="0"/>
                <a:ea typeface="Calibri" pitchFamily="34" charset="-122"/>
                <a:cs typeface="Calibri" pitchFamily="34" charset="-120"/>
              </a:rPr>
              <a:t>• max_length: 512 tokens (reduced to 256 in chatbot)
• temperature: 0.7 for balanced creativity
• top_k: 50, top_p: 0.95 for quality control
• do_sample: True for diverse responses
</a:t>
            </a:r>
            <a:r>
              <a:rPr lang="en-US" sz="1400" b="1" dirty="0">
                <a:solidFill>
                  <a:srgbClr val="2C3E50"/>
                </a:solidFill>
                <a:latin typeface="Calibri" pitchFamily="34" charset="0"/>
                <a:ea typeface="Calibri" pitchFamily="34" charset="-122"/>
                <a:cs typeface="Calibri" pitchFamily="34" charset="-120"/>
              </a:rPr>
              <a:t>Optimization:
</a:t>
            </a:r>
            <a:r>
              <a:rPr lang="en-US" sz="1400" dirty="0">
                <a:solidFill>
                  <a:srgbClr val="2C3E50"/>
                </a:solidFill>
                <a:latin typeface="Calibri" pitchFamily="34" charset="0"/>
                <a:ea typeface="Calibri" pitchFamily="34" charset="-122"/>
                <a:cs typeface="Calibri" pitchFamily="34" charset="-120"/>
              </a:rPr>
              <a:t>• torch_dtype: float16 for memory efficiency
• device_map: auto for optimal GPU usage
• CPU-based embeddings to conserve GPU memory</a:t>
            </a:r>
            <a:endParaRPr lang="en-US" sz="1400" dirty="0"/>
          </a:p>
        </p:txBody>
      </p:sp>
      <p:sp>
        <p:nvSpPr>
          <p:cNvPr id="5" name="Shape 3"/>
          <p:cNvSpPr/>
          <p:nvPr/>
        </p:nvSpPr>
        <p:spPr>
          <a:xfrm>
            <a:off x="5303520" y="1645920"/>
            <a:ext cx="3474720" cy="2834640"/>
          </a:xfrm>
          <a:prstGeom prst="rect">
            <a:avLst/>
          </a:prstGeom>
          <a:solidFill>
            <a:srgbClr val="F5F5F5"/>
          </a:solidFill>
          <a:ln w="12700">
            <a:solidFill>
              <a:srgbClr val="1C7293"/>
            </a:solidFill>
            <a:prstDash val="solid"/>
          </a:ln>
        </p:spPr>
        <p:txBody>
          <a:bodyPr/>
          <a:lstStyle/>
          <a:p>
            <a:endParaRPr lang="en-US"/>
          </a:p>
        </p:txBody>
      </p:sp>
      <p:sp>
        <p:nvSpPr>
          <p:cNvPr id="6" name="Text 4"/>
          <p:cNvSpPr/>
          <p:nvPr/>
        </p:nvSpPr>
        <p:spPr>
          <a:xfrm>
            <a:off x="5440680" y="1730326"/>
            <a:ext cx="3291840" cy="2194560"/>
          </a:xfrm>
          <a:prstGeom prst="rect">
            <a:avLst/>
          </a:prstGeom>
          <a:noFill/>
          <a:ln/>
        </p:spPr>
        <p:txBody>
          <a:bodyPr wrap="square" rtlCol="0" anchor="t"/>
          <a:lstStyle/>
          <a:p>
            <a:pPr marL="0" indent="0">
              <a:buNone/>
            </a:pPr>
            <a:r>
              <a:rPr lang="en-US" sz="1200" dirty="0">
                <a:solidFill>
                  <a:srgbClr val="21295C"/>
                </a:solidFill>
                <a:latin typeface="Consolas" pitchFamily="34" charset="0"/>
                <a:ea typeface="Consolas" pitchFamily="34" charset="-122"/>
                <a:cs typeface="Consolas" pitchFamily="34" charset="-120"/>
              </a:rPr>
              <a:t>outputs = model.generate(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**inputs,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max_length=512,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temperature=0.7,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top_k=50,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top_p=0.95,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  do_sample=True
</a:t>
            </a:r>
            <a:endParaRPr lang="en-US" sz="1200" dirty="0"/>
          </a:p>
          <a:p>
            <a:pPr marL="0" indent="0">
              <a:buNone/>
            </a:pPr>
            <a:r>
              <a:rPr lang="en-US" sz="1200" dirty="0">
                <a:solidFill>
                  <a:srgbClr val="21295C"/>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09489" y="73152"/>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Query Processing Flow</a:t>
            </a:r>
            <a:endParaRPr lang="en-US" sz="2800" dirty="0"/>
          </a:p>
        </p:txBody>
      </p:sp>
      <p:sp>
        <p:nvSpPr>
          <p:cNvPr id="3" name="Shape 1"/>
          <p:cNvSpPr/>
          <p:nvPr/>
        </p:nvSpPr>
        <p:spPr>
          <a:xfrm>
            <a:off x="766689" y="1261872"/>
            <a:ext cx="457200" cy="457200"/>
          </a:xfrm>
          <a:prstGeom prst="ellipse">
            <a:avLst/>
          </a:prstGeom>
          <a:solidFill>
            <a:srgbClr val="1C7293"/>
          </a:solidFill>
          <a:ln/>
        </p:spPr>
        <p:txBody>
          <a:bodyPr/>
          <a:lstStyle/>
          <a:p>
            <a:endParaRPr lang="en-US"/>
          </a:p>
        </p:txBody>
      </p:sp>
      <p:sp>
        <p:nvSpPr>
          <p:cNvPr id="4" name="Text 2"/>
          <p:cNvSpPr/>
          <p:nvPr/>
        </p:nvSpPr>
        <p:spPr>
          <a:xfrm>
            <a:off x="766689" y="126187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2"/>
          <p:cNvSpPr/>
          <p:nvPr/>
        </p:nvSpPr>
        <p:spPr>
          <a:xfrm>
            <a:off x="1498209" y="1335024"/>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User submits question via GUI</a:t>
            </a:r>
            <a:endParaRPr lang="en-US" sz="1300" dirty="0"/>
          </a:p>
        </p:txBody>
      </p:sp>
      <p:sp>
        <p:nvSpPr>
          <p:cNvPr id="6" name="Shape 4"/>
          <p:cNvSpPr/>
          <p:nvPr/>
        </p:nvSpPr>
        <p:spPr>
          <a:xfrm>
            <a:off x="766689" y="1856232"/>
            <a:ext cx="457200" cy="457200"/>
          </a:xfrm>
          <a:prstGeom prst="ellipse">
            <a:avLst/>
          </a:prstGeom>
          <a:solidFill>
            <a:srgbClr val="065A82"/>
          </a:solidFill>
          <a:ln/>
        </p:spPr>
        <p:txBody>
          <a:bodyPr/>
          <a:lstStyle/>
          <a:p>
            <a:endParaRPr lang="en-US"/>
          </a:p>
        </p:txBody>
      </p:sp>
      <p:sp>
        <p:nvSpPr>
          <p:cNvPr id="7" name="Text 5"/>
          <p:cNvSpPr/>
          <p:nvPr/>
        </p:nvSpPr>
        <p:spPr>
          <a:xfrm>
            <a:off x="766689" y="185623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2"/>
          <p:cNvSpPr/>
          <p:nvPr/>
        </p:nvSpPr>
        <p:spPr>
          <a:xfrm>
            <a:off x="1498209" y="1929384"/>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Question is embedded into vector</a:t>
            </a:r>
            <a:endParaRPr lang="en-US" sz="1300" dirty="0"/>
          </a:p>
        </p:txBody>
      </p:sp>
      <p:sp>
        <p:nvSpPr>
          <p:cNvPr id="9" name="Shape 7"/>
          <p:cNvSpPr/>
          <p:nvPr/>
        </p:nvSpPr>
        <p:spPr>
          <a:xfrm>
            <a:off x="766689" y="2450592"/>
            <a:ext cx="457200" cy="457200"/>
          </a:xfrm>
          <a:prstGeom prst="ellipse">
            <a:avLst/>
          </a:prstGeom>
          <a:solidFill>
            <a:srgbClr val="1C7293"/>
          </a:solidFill>
          <a:ln/>
        </p:spPr>
        <p:txBody>
          <a:bodyPr/>
          <a:lstStyle/>
          <a:p>
            <a:endParaRPr lang="en-US"/>
          </a:p>
        </p:txBody>
      </p:sp>
      <p:sp>
        <p:nvSpPr>
          <p:cNvPr id="10" name="Text 8"/>
          <p:cNvSpPr/>
          <p:nvPr/>
        </p:nvSpPr>
        <p:spPr>
          <a:xfrm>
            <a:off x="766689" y="245059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2"/>
          <p:cNvSpPr/>
          <p:nvPr/>
        </p:nvSpPr>
        <p:spPr>
          <a:xfrm>
            <a:off x="1498209" y="2523744"/>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FAISS finds most similar document chunk</a:t>
            </a:r>
            <a:endParaRPr lang="en-US" sz="1300" dirty="0"/>
          </a:p>
        </p:txBody>
      </p:sp>
      <p:sp>
        <p:nvSpPr>
          <p:cNvPr id="12" name="Shape 10"/>
          <p:cNvSpPr/>
          <p:nvPr/>
        </p:nvSpPr>
        <p:spPr>
          <a:xfrm>
            <a:off x="766689" y="3044952"/>
            <a:ext cx="457200" cy="457200"/>
          </a:xfrm>
          <a:prstGeom prst="ellipse">
            <a:avLst/>
          </a:prstGeom>
          <a:solidFill>
            <a:srgbClr val="065A82"/>
          </a:solidFill>
          <a:ln/>
        </p:spPr>
        <p:txBody>
          <a:bodyPr/>
          <a:lstStyle/>
          <a:p>
            <a:endParaRPr lang="en-US"/>
          </a:p>
        </p:txBody>
      </p:sp>
      <p:sp>
        <p:nvSpPr>
          <p:cNvPr id="13" name="Text 11"/>
          <p:cNvSpPr/>
          <p:nvPr/>
        </p:nvSpPr>
        <p:spPr>
          <a:xfrm>
            <a:off x="766689" y="304495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2"/>
          <p:cNvSpPr/>
          <p:nvPr/>
        </p:nvSpPr>
        <p:spPr>
          <a:xfrm>
            <a:off x="1498209" y="3118104"/>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Context + question form the prompt</a:t>
            </a:r>
            <a:endParaRPr lang="en-US" sz="1300" dirty="0"/>
          </a:p>
        </p:txBody>
      </p:sp>
      <p:sp>
        <p:nvSpPr>
          <p:cNvPr id="15" name="Shape 13"/>
          <p:cNvSpPr/>
          <p:nvPr/>
        </p:nvSpPr>
        <p:spPr>
          <a:xfrm>
            <a:off x="766689" y="3639312"/>
            <a:ext cx="457200" cy="457200"/>
          </a:xfrm>
          <a:prstGeom prst="ellipse">
            <a:avLst/>
          </a:prstGeom>
          <a:solidFill>
            <a:srgbClr val="1C7293"/>
          </a:solidFill>
          <a:ln/>
        </p:spPr>
        <p:txBody>
          <a:bodyPr/>
          <a:lstStyle/>
          <a:p>
            <a:endParaRPr lang="en-US"/>
          </a:p>
        </p:txBody>
      </p:sp>
      <p:sp>
        <p:nvSpPr>
          <p:cNvPr id="16" name="Text 14"/>
          <p:cNvSpPr/>
          <p:nvPr/>
        </p:nvSpPr>
        <p:spPr>
          <a:xfrm>
            <a:off x="766689" y="363931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ext 2"/>
          <p:cNvSpPr/>
          <p:nvPr/>
        </p:nvSpPr>
        <p:spPr>
          <a:xfrm>
            <a:off x="1498209" y="3712464"/>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LLM generates answer based on context</a:t>
            </a:r>
            <a:endParaRPr lang="en-US" sz="1300" dirty="0"/>
          </a:p>
        </p:txBody>
      </p:sp>
      <p:sp>
        <p:nvSpPr>
          <p:cNvPr id="18" name="Shape 16"/>
          <p:cNvSpPr/>
          <p:nvPr/>
        </p:nvSpPr>
        <p:spPr>
          <a:xfrm>
            <a:off x="766689" y="4233672"/>
            <a:ext cx="457200" cy="457200"/>
          </a:xfrm>
          <a:prstGeom prst="ellipse">
            <a:avLst/>
          </a:prstGeom>
          <a:solidFill>
            <a:srgbClr val="065A82"/>
          </a:solidFill>
          <a:ln/>
        </p:spPr>
        <p:txBody>
          <a:bodyPr/>
          <a:lstStyle/>
          <a:p>
            <a:endParaRPr lang="en-US"/>
          </a:p>
        </p:txBody>
      </p:sp>
      <p:sp>
        <p:nvSpPr>
          <p:cNvPr id="19" name="Text 17"/>
          <p:cNvSpPr/>
          <p:nvPr/>
        </p:nvSpPr>
        <p:spPr>
          <a:xfrm>
            <a:off x="766689" y="423367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ext 2"/>
          <p:cNvSpPr/>
          <p:nvPr/>
        </p:nvSpPr>
        <p:spPr>
          <a:xfrm>
            <a:off x="1498209" y="4306824"/>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Response displayed in output area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Interactive GUI Components</a:t>
            </a:r>
            <a:endParaRPr lang="en-US" sz="2800" dirty="0"/>
          </a:p>
        </p:txBody>
      </p:sp>
      <p:sp>
        <p:nvSpPr>
          <p:cNvPr id="3" name="Text 1"/>
          <p:cNvSpPr/>
          <p:nvPr/>
        </p:nvSpPr>
        <p:spPr>
          <a:xfrm>
            <a:off x="457200" y="1371600"/>
            <a:ext cx="8229600" cy="4572000"/>
          </a:xfrm>
          <a:prstGeom prst="rect">
            <a:avLst/>
          </a:prstGeom>
          <a:noFill/>
          <a:ln/>
        </p:spPr>
        <p:txBody>
          <a:bodyPr wrap="square" rtlCol="0" anchor="t"/>
          <a:lstStyle/>
          <a:p>
            <a:pPr marL="0" indent="0">
              <a:buNone/>
            </a:pPr>
            <a:r>
              <a:rPr lang="en-US" sz="1600" dirty="0">
                <a:solidFill>
                  <a:srgbClr val="2C3E50"/>
                </a:solidFill>
                <a:latin typeface="Calibri" pitchFamily="34" charset="0"/>
                <a:ea typeface="Calibri" pitchFamily="34" charset="-122"/>
                <a:cs typeface="Calibri" pitchFamily="34" charset="-120"/>
              </a:rPr>
              <a:t>Built with ipywidgets for Jupyter environments
</a:t>
            </a:r>
            <a:r>
              <a:rPr lang="en-US" sz="1400" b="1" dirty="0">
                <a:solidFill>
                  <a:srgbClr val="2C3E50"/>
                </a:solidFill>
                <a:latin typeface="Calibri" pitchFamily="34" charset="0"/>
                <a:ea typeface="Calibri" pitchFamily="34" charset="-122"/>
                <a:cs typeface="Calibri" pitchFamily="34" charset="-120"/>
              </a:rPr>
              <a:t>Components:
</a:t>
            </a:r>
            <a:r>
              <a:rPr lang="en-US" sz="1400" b="1" dirty="0">
                <a:solidFill>
                  <a:srgbClr val="1C7293"/>
                </a:solidFill>
                <a:latin typeface="Calibri" pitchFamily="34" charset="0"/>
                <a:ea typeface="Calibri" pitchFamily="34" charset="-122"/>
                <a:cs typeface="Calibri" pitchFamily="34" charset="-120"/>
              </a:rPr>
              <a:t>• Text Area: </a:t>
            </a:r>
            <a:r>
              <a:rPr lang="en-US" sz="1400" dirty="0">
                <a:solidFill>
                  <a:srgbClr val="2C3E50"/>
                </a:solidFill>
                <a:latin typeface="Calibri" pitchFamily="34" charset="0"/>
                <a:ea typeface="Calibri" pitchFamily="34" charset="-122"/>
                <a:cs typeface="Calibri" pitchFamily="34" charset="-120"/>
              </a:rPr>
              <a:t>User input field with placeholder text
</a:t>
            </a:r>
            <a:r>
              <a:rPr lang="en-US" sz="1400" b="1" dirty="0">
                <a:solidFill>
                  <a:srgbClr val="1C7293"/>
                </a:solidFill>
                <a:latin typeface="Calibri" pitchFamily="34" charset="0"/>
                <a:ea typeface="Calibri" pitchFamily="34" charset="-122"/>
                <a:cs typeface="Calibri" pitchFamily="34" charset="-120"/>
              </a:rPr>
              <a:t>• Ask Button: </a:t>
            </a:r>
            <a:r>
              <a:rPr lang="en-US" sz="1400" dirty="0">
                <a:solidFill>
                  <a:srgbClr val="2C3E50"/>
                </a:solidFill>
                <a:latin typeface="Calibri" pitchFamily="34" charset="0"/>
                <a:ea typeface="Calibri" pitchFamily="34" charset="-122"/>
                <a:cs typeface="Calibri" pitchFamily="34" charset="-120"/>
              </a:rPr>
              <a:t>Triggers query processing and response generation
</a:t>
            </a:r>
            <a:r>
              <a:rPr lang="en-US" sz="1400" b="1" dirty="0">
                <a:solidFill>
                  <a:srgbClr val="1C7293"/>
                </a:solidFill>
                <a:latin typeface="Calibri" pitchFamily="34" charset="0"/>
                <a:ea typeface="Calibri" pitchFamily="34" charset="-122"/>
                <a:cs typeface="Calibri" pitchFamily="34" charset="-120"/>
              </a:rPr>
              <a:t>• Output Area: </a:t>
            </a:r>
            <a:r>
              <a:rPr lang="en-US" sz="1400" dirty="0">
                <a:solidFill>
                  <a:srgbClr val="2C3E50"/>
                </a:solidFill>
                <a:latin typeface="Calibri" pitchFamily="34" charset="0"/>
                <a:ea typeface="Calibri" pitchFamily="34" charset="-122"/>
                <a:cs typeface="Calibri" pitchFamily="34" charset="-120"/>
              </a:rPr>
              <a:t>Displays user questions and chatbot responses
</a:t>
            </a:r>
            <a:r>
              <a:rPr lang="en-US" sz="1400" b="1" dirty="0">
                <a:solidFill>
                  <a:srgbClr val="2C3E50"/>
                </a:solidFill>
                <a:latin typeface="Calibri" pitchFamily="34" charset="0"/>
                <a:ea typeface="Calibri" pitchFamily="34" charset="-122"/>
                <a:cs typeface="Calibri" pitchFamily="34" charset="-120"/>
              </a:rPr>
              <a:t>Features:
</a:t>
            </a:r>
            <a:r>
              <a:rPr lang="en-US" sz="1400" dirty="0">
                <a:solidFill>
                  <a:srgbClr val="2C3E50"/>
                </a:solidFill>
                <a:latin typeface="Calibri" pitchFamily="34" charset="0"/>
                <a:ea typeface="Calibri" pitchFamily="34" charset="-122"/>
                <a:cs typeface="Calibri" pitchFamily="34" charset="-120"/>
              </a:rPr>
              <a:t>• Automatic input clearing after each query
• Error handling for graceful failure management
• Clean, user-friendly layout with VBox container</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Demo Results</a:t>
            </a:r>
            <a:endParaRPr lang="en-US" sz="2800" dirty="0"/>
          </a:p>
        </p:txBody>
      </p:sp>
      <p:sp>
        <p:nvSpPr>
          <p:cNvPr id="3" name="Text 1"/>
          <p:cNvSpPr/>
          <p:nvPr/>
        </p:nvSpPr>
        <p:spPr>
          <a:xfrm>
            <a:off x="457200" y="1371600"/>
            <a:ext cx="8229600" cy="4572000"/>
          </a:xfrm>
          <a:prstGeom prst="rect">
            <a:avLst/>
          </a:prstGeom>
          <a:noFill/>
          <a:ln/>
        </p:spPr>
        <p:txBody>
          <a:bodyPr wrap="square" rtlCol="0" anchor="t"/>
          <a:lstStyle/>
          <a:p>
            <a:pPr marL="0" indent="0">
              <a:buNone/>
            </a:pPr>
            <a:r>
              <a:rPr lang="en-US" sz="1600" b="1" dirty="0">
                <a:solidFill>
                  <a:srgbClr val="2C3E50"/>
                </a:solidFill>
                <a:latin typeface="Calibri" pitchFamily="34" charset="0"/>
                <a:ea typeface="Calibri" pitchFamily="34" charset="-122"/>
                <a:cs typeface="Calibri" pitchFamily="34" charset="-120"/>
              </a:rPr>
              <a:t>Example Query:
</a:t>
            </a:r>
            <a:r>
              <a:rPr lang="en-US" sz="1500" i="1" dirty="0">
                <a:solidFill>
                  <a:srgbClr val="21295C"/>
                </a:solidFill>
                <a:latin typeface="Calibri" pitchFamily="34" charset="0"/>
                <a:ea typeface="Calibri" pitchFamily="34" charset="-122"/>
                <a:cs typeface="Calibri" pitchFamily="34" charset="-120"/>
              </a:rPr>
              <a:t>"How much is the price of basic?"
</a:t>
            </a:r>
            <a:r>
              <a:rPr lang="en-US" sz="1600" b="1" dirty="0">
                <a:solidFill>
                  <a:srgbClr val="2C3E50"/>
                </a:solidFill>
                <a:latin typeface="Calibri" pitchFamily="34" charset="0"/>
                <a:ea typeface="Calibri" pitchFamily="34" charset="-122"/>
                <a:cs typeface="Calibri" pitchFamily="34" charset="-120"/>
              </a:rPr>
              <a:t>Chatbot Response:
</a:t>
            </a:r>
            <a:r>
              <a:rPr lang="en-US" sz="1500" dirty="0">
                <a:solidFill>
                  <a:srgbClr val="065A82"/>
                </a:solidFill>
                <a:latin typeface="Calibri" pitchFamily="34" charset="0"/>
                <a:ea typeface="Calibri" pitchFamily="34" charset="-122"/>
                <a:cs typeface="Calibri" pitchFamily="34" charset="-120"/>
              </a:rPr>
              <a:t>"The monthly price of the Basic plan is $25."
</a:t>
            </a:r>
            <a:r>
              <a:rPr lang="en-US" sz="1400" b="1" dirty="0">
                <a:solidFill>
                  <a:srgbClr val="2C3E50"/>
                </a:solidFill>
                <a:latin typeface="Calibri" pitchFamily="34" charset="0"/>
                <a:ea typeface="Calibri" pitchFamily="34" charset="-122"/>
                <a:cs typeface="Calibri" pitchFamily="34" charset="-120"/>
              </a:rPr>
              <a:t>System Performance:
</a:t>
            </a:r>
            <a:r>
              <a:rPr lang="en-US" sz="1400" dirty="0">
                <a:solidFill>
                  <a:srgbClr val="2C3E50"/>
                </a:solidFill>
                <a:latin typeface="Calibri" pitchFamily="34" charset="0"/>
                <a:ea typeface="Calibri" pitchFamily="34" charset="-122"/>
                <a:cs typeface="Calibri" pitchFamily="34" charset="-120"/>
              </a:rPr>
              <a:t>• Successfully loaded 4 document chunks
• Accurate retrieval from CSV service plan data
• Concise, context-grounded response generation
• No hallucination - answer directly from knowledge base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67286" y="0"/>
            <a:ext cx="8229600" cy="731520"/>
          </a:xfrm>
          <a:prstGeom prst="rect">
            <a:avLst/>
          </a:prstGeom>
          <a:noFill/>
          <a:ln/>
        </p:spPr>
        <p:txBody>
          <a:bodyPr wrap="square"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Key Takeaways</a:t>
            </a:r>
            <a:endParaRPr lang="en-US" sz="2800" dirty="0"/>
          </a:p>
        </p:txBody>
      </p:sp>
      <p:sp>
        <p:nvSpPr>
          <p:cNvPr id="3" name="Shape 1"/>
          <p:cNvSpPr/>
          <p:nvPr/>
        </p:nvSpPr>
        <p:spPr>
          <a:xfrm>
            <a:off x="541606" y="1188720"/>
            <a:ext cx="7680960" cy="548640"/>
          </a:xfrm>
          <a:prstGeom prst="rect">
            <a:avLst/>
          </a:prstGeom>
          <a:solidFill>
            <a:srgbClr val="F5F5F5"/>
          </a:solidFill>
          <a:ln w="12700">
            <a:solidFill>
              <a:srgbClr val="1C7293"/>
            </a:solidFill>
            <a:prstDash val="solid"/>
          </a:ln>
        </p:spPr>
        <p:txBody>
          <a:bodyPr/>
          <a:lstStyle/>
          <a:p>
            <a:endParaRPr lang="en-US"/>
          </a:p>
        </p:txBody>
      </p:sp>
      <p:sp>
        <p:nvSpPr>
          <p:cNvPr id="4" name="Text 2"/>
          <p:cNvSpPr/>
          <p:nvPr/>
        </p:nvSpPr>
        <p:spPr>
          <a:xfrm>
            <a:off x="724486" y="1261872"/>
            <a:ext cx="7315200" cy="402336"/>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1. RAG combines retrieval and generation for accurate, grounded responses</a:t>
            </a:r>
            <a:endParaRPr lang="en-US" sz="1300" dirty="0"/>
          </a:p>
        </p:txBody>
      </p:sp>
      <p:sp>
        <p:nvSpPr>
          <p:cNvPr id="5" name="Shape 3"/>
          <p:cNvSpPr/>
          <p:nvPr/>
        </p:nvSpPr>
        <p:spPr>
          <a:xfrm>
            <a:off x="541606" y="1828800"/>
            <a:ext cx="7680960" cy="548640"/>
          </a:xfrm>
          <a:prstGeom prst="rect">
            <a:avLst/>
          </a:prstGeom>
          <a:solidFill>
            <a:srgbClr val="FFFFFF"/>
          </a:solidFill>
          <a:ln w="12700">
            <a:solidFill>
              <a:srgbClr val="1C7293"/>
            </a:solidFill>
            <a:prstDash val="solid"/>
          </a:ln>
        </p:spPr>
        <p:txBody>
          <a:bodyPr/>
          <a:lstStyle/>
          <a:p>
            <a:endParaRPr lang="en-US"/>
          </a:p>
        </p:txBody>
      </p:sp>
      <p:sp>
        <p:nvSpPr>
          <p:cNvPr id="6" name="Text 2"/>
          <p:cNvSpPr/>
          <p:nvPr/>
        </p:nvSpPr>
        <p:spPr>
          <a:xfrm>
            <a:off x="724486" y="1901952"/>
            <a:ext cx="7315200" cy="402336"/>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2. LangChain simplifies building complex LLM applications</a:t>
            </a:r>
            <a:endParaRPr lang="en-US" sz="1300" dirty="0"/>
          </a:p>
        </p:txBody>
      </p:sp>
      <p:sp>
        <p:nvSpPr>
          <p:cNvPr id="7" name="Shape 5"/>
          <p:cNvSpPr/>
          <p:nvPr/>
        </p:nvSpPr>
        <p:spPr>
          <a:xfrm>
            <a:off x="541606" y="2468880"/>
            <a:ext cx="7680960" cy="548640"/>
          </a:xfrm>
          <a:prstGeom prst="rect">
            <a:avLst/>
          </a:prstGeom>
          <a:solidFill>
            <a:srgbClr val="F5F5F5"/>
          </a:solidFill>
          <a:ln w="12700">
            <a:solidFill>
              <a:srgbClr val="1C7293"/>
            </a:solidFill>
            <a:prstDash val="solid"/>
          </a:ln>
        </p:spPr>
        <p:txBody>
          <a:bodyPr/>
          <a:lstStyle/>
          <a:p>
            <a:endParaRPr lang="en-US"/>
          </a:p>
        </p:txBody>
      </p:sp>
      <p:sp>
        <p:nvSpPr>
          <p:cNvPr id="8" name="Text 2"/>
          <p:cNvSpPr/>
          <p:nvPr/>
        </p:nvSpPr>
        <p:spPr>
          <a:xfrm>
            <a:off x="724486" y="2542032"/>
            <a:ext cx="7315200" cy="402336"/>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3. FAISS enables efficient similarity search at scale</a:t>
            </a:r>
            <a:endParaRPr lang="en-US" sz="1300" dirty="0"/>
          </a:p>
        </p:txBody>
      </p:sp>
      <p:sp>
        <p:nvSpPr>
          <p:cNvPr id="9" name="Shape 7"/>
          <p:cNvSpPr/>
          <p:nvPr/>
        </p:nvSpPr>
        <p:spPr>
          <a:xfrm>
            <a:off x="541606" y="3108960"/>
            <a:ext cx="7680960" cy="548640"/>
          </a:xfrm>
          <a:prstGeom prst="rect">
            <a:avLst/>
          </a:prstGeom>
          <a:solidFill>
            <a:srgbClr val="FFFFFF"/>
          </a:solidFill>
          <a:ln w="12700">
            <a:solidFill>
              <a:srgbClr val="1C7293"/>
            </a:solidFill>
            <a:prstDash val="solid"/>
          </a:ln>
        </p:spPr>
        <p:txBody>
          <a:bodyPr/>
          <a:lstStyle/>
          <a:p>
            <a:endParaRPr lang="en-US"/>
          </a:p>
        </p:txBody>
      </p:sp>
      <p:sp>
        <p:nvSpPr>
          <p:cNvPr id="10" name="Text 2"/>
          <p:cNvSpPr/>
          <p:nvPr/>
        </p:nvSpPr>
        <p:spPr>
          <a:xfrm>
            <a:off x="724486" y="3182112"/>
            <a:ext cx="7315200" cy="402336"/>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4. Proper chunking and overlap maintain context integrity</a:t>
            </a:r>
            <a:endParaRPr lang="en-US" sz="1300" dirty="0"/>
          </a:p>
        </p:txBody>
      </p:sp>
      <p:sp>
        <p:nvSpPr>
          <p:cNvPr id="11" name="Shape 9"/>
          <p:cNvSpPr/>
          <p:nvPr/>
        </p:nvSpPr>
        <p:spPr>
          <a:xfrm>
            <a:off x="541606" y="3749040"/>
            <a:ext cx="7680960" cy="548640"/>
          </a:xfrm>
          <a:prstGeom prst="rect">
            <a:avLst/>
          </a:prstGeom>
          <a:solidFill>
            <a:srgbClr val="F5F5F5"/>
          </a:solidFill>
          <a:ln w="12700">
            <a:solidFill>
              <a:srgbClr val="1C7293"/>
            </a:solidFill>
            <a:prstDash val="solid"/>
          </a:ln>
        </p:spPr>
        <p:txBody>
          <a:bodyPr/>
          <a:lstStyle/>
          <a:p>
            <a:endParaRPr lang="en-US"/>
          </a:p>
        </p:txBody>
      </p:sp>
      <p:sp>
        <p:nvSpPr>
          <p:cNvPr id="12" name="Text 2"/>
          <p:cNvSpPr/>
          <p:nvPr/>
        </p:nvSpPr>
        <p:spPr>
          <a:xfrm>
            <a:off x="724486" y="3822192"/>
            <a:ext cx="7315200" cy="402336"/>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5. Memory optimization is crucial for running large models</a:t>
            </a:r>
            <a:endParaRPr lang="en-US" sz="1300" dirty="0"/>
          </a:p>
        </p:txBody>
      </p:sp>
      <p:sp>
        <p:nvSpPr>
          <p:cNvPr id="13" name="Shape 11"/>
          <p:cNvSpPr/>
          <p:nvPr/>
        </p:nvSpPr>
        <p:spPr>
          <a:xfrm>
            <a:off x="541606" y="4389120"/>
            <a:ext cx="7680960" cy="548640"/>
          </a:xfrm>
          <a:prstGeom prst="rect">
            <a:avLst/>
          </a:prstGeom>
          <a:solidFill>
            <a:srgbClr val="FFFFFF"/>
          </a:solidFill>
          <a:ln w="12700">
            <a:solidFill>
              <a:srgbClr val="1C7293"/>
            </a:solidFill>
            <a:prstDash val="solid"/>
          </a:ln>
        </p:spPr>
        <p:txBody>
          <a:bodyPr/>
          <a:lstStyle/>
          <a:p>
            <a:endParaRPr lang="en-US"/>
          </a:p>
        </p:txBody>
      </p:sp>
      <p:sp>
        <p:nvSpPr>
          <p:cNvPr id="14" name="Text 2"/>
          <p:cNvSpPr/>
          <p:nvPr/>
        </p:nvSpPr>
        <p:spPr>
          <a:xfrm>
            <a:off x="724486" y="4462272"/>
            <a:ext cx="7315200" cy="402336"/>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6. Interactive GUIs make AI accessible to end users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457200" y="1280160"/>
            <a:ext cx="8229600" cy="1097280"/>
          </a:xfrm>
          <a:prstGeom prst="rect">
            <a:avLst/>
          </a:prstGeom>
          <a:noFill/>
          <a:ln/>
        </p:spPr>
        <p:txBody>
          <a:bodyPr wrap="square" rtlCol="0" anchor="ctr"/>
          <a:lstStyle/>
          <a:p>
            <a:pPr marL="0" indent="0" algn="ctr">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3" name="Text 1"/>
          <p:cNvSpPr/>
          <p:nvPr/>
        </p:nvSpPr>
        <p:spPr>
          <a:xfrm>
            <a:off x="457200" y="2651760"/>
            <a:ext cx="8229600" cy="1645920"/>
          </a:xfrm>
          <a:prstGeom prst="rect">
            <a:avLst/>
          </a:prstGeom>
          <a:noFill/>
          <a:ln/>
        </p:spPr>
        <p:txBody>
          <a:bodyPr wrap="square" rtlCol="0" anchor="t"/>
          <a:lstStyle/>
          <a:p>
            <a:pPr marL="0" indent="0" algn="ctr">
              <a:buNone/>
            </a:pPr>
            <a:r>
              <a:rPr lang="en-US" sz="2800" dirty="0">
                <a:solidFill>
                  <a:srgbClr val="F5F5F5"/>
                </a:solidFill>
                <a:latin typeface="Calibri" pitchFamily="34" charset="0"/>
                <a:ea typeface="Calibri" pitchFamily="34" charset="-122"/>
                <a:cs typeface="Calibri" pitchFamily="34" charset="-120"/>
              </a:rPr>
              <a:t>Questions?
</a:t>
            </a:r>
            <a:r>
              <a:rPr lang="en-US" sz="1600" dirty="0">
                <a:solidFill>
                  <a:srgbClr val="FFFFFF"/>
                </a:solidFill>
                <a:latin typeface="Calibri" pitchFamily="34" charset="0"/>
                <a:ea typeface="Calibri" pitchFamily="34" charset="-122"/>
                <a:cs typeface="Calibri" pitchFamily="34" charset="-120"/>
              </a:rPr>
              <a:t>Basant Saad Eldin Mohammed
Mena Gamal Aboelela</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968</Words>
  <Application>Microsoft Office PowerPoint</Application>
  <PresentationFormat>On-screen Show (16:9)</PresentationFormat>
  <Paragraphs>96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Basant Saad</cp:lastModifiedBy>
  <cp:revision>3</cp:revision>
  <dcterms:created xsi:type="dcterms:W3CDTF">2026-02-07T09:19:16Z</dcterms:created>
  <dcterms:modified xsi:type="dcterms:W3CDTF">2026-02-07T09:57:16Z</dcterms:modified>
</cp:coreProperties>
</file>